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899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196596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PREPROCESSING, POST-PROCESSING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EVALUATION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703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practices for building a robust, interpretable, and generalizable machine learning pipeline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BATHALA HEMANTH KUMAR   |   Register No: 192324238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7240" y="5074920"/>
            <a:ext cx="1874520" cy="594360"/>
          </a:xfrm>
          <a:prstGeom prst="roundRect">
            <a:avLst>
              <a:gd name="adj" fmla="val 15385"/>
            </a:avLst>
          </a:prstGeom>
          <a:solidFill>
            <a:srgbClr val="141A45"/>
          </a:solidFill>
          <a:ln w="12700">
            <a:solidFill>
              <a:srgbClr val="4C7E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50749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7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1288" y="50749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70048" y="507492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C7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71800" y="5074920"/>
            <a:ext cx="1874520" cy="594360"/>
          </a:xfrm>
          <a:prstGeom prst="roundRect">
            <a:avLst>
              <a:gd name="adj" fmla="val 15385"/>
            </a:avLst>
          </a:prstGeom>
          <a:solidFill>
            <a:srgbClr val="141A45"/>
          </a:solidFill>
          <a:ln w="12700">
            <a:solidFill>
              <a:srgbClr val="4C7E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4952" y="50749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7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55848" y="50749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608" y="507492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C7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66360" y="5074920"/>
            <a:ext cx="1874520" cy="594360"/>
          </a:xfrm>
          <a:prstGeom prst="roundRect">
            <a:avLst>
              <a:gd name="adj" fmla="val 15385"/>
            </a:avLst>
          </a:prstGeom>
          <a:solidFill>
            <a:srgbClr val="141A45"/>
          </a:solidFill>
          <a:ln w="12700">
            <a:solidFill>
              <a:srgbClr val="4C7E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9512" y="50749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7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50408" y="50749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59168" y="5074920"/>
            <a:ext cx="274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C7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60920" y="5074920"/>
            <a:ext cx="1874520" cy="594360"/>
          </a:xfrm>
          <a:prstGeom prst="roundRect">
            <a:avLst>
              <a:gd name="adj" fmla="val 15385"/>
            </a:avLst>
          </a:prstGeom>
          <a:solidFill>
            <a:srgbClr val="141A45"/>
          </a:solidFill>
          <a:ln w="12700">
            <a:solidFill>
              <a:srgbClr val="4C7E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34072" y="50749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7E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44968" y="50749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raw data to improve model efficiency and reliability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8562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duplicates, correct inconsistent entries, and fix formatting errors before any modeling begins. Standardizing units and date formats also prevents subtle downstream errors.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18562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Missing Values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25146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or remove nulls using mean/median, mode, or model-based imputation depending on the feature type. Flagging imputed values as a separate feature preserves missingness signal.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43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3251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49834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numeric features (min-max or z-score) so no single variable dominates due to magnitude alone. Fit the scaler on training data only, to avoid leaking test information.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406908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343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43251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0" y="49834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the most predictive variables and drop redundant or low-signal ones to reduce noise and overfitting. Correlation filters and importance scores both help guide this choice.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Post-Processing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 raw model output into decisions people can trust and act 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1920240"/>
            <a:ext cx="731520" cy="731520"/>
          </a:xfrm>
          <a:prstGeom prst="ellipse">
            <a:avLst/>
          </a:prstGeom>
          <a:solidFill>
            <a:srgbClr val="4C7EF3"/>
          </a:solidFill>
          <a:ln/>
        </p:spPr>
      </p:sp>
      <p:sp>
        <p:nvSpPr>
          <p:cNvPr id="6" name="Text 4"/>
          <p:cNvSpPr/>
          <p:nvPr/>
        </p:nvSpPr>
        <p:spPr>
          <a:xfrm>
            <a:off x="189738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Refinement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8803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or aggregate raw predictions, resolve conflicting outputs, and apply business rules before results reach an end user. Ensembling multiple models can further stabilize the final prediction.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33672" y="160020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82412" y="1920240"/>
            <a:ext cx="731520" cy="731520"/>
          </a:xfrm>
          <a:prstGeom prst="ellipse">
            <a:avLst/>
          </a:prstGeom>
          <a:solidFill>
            <a:srgbClr val="4C7EF3"/>
          </a:solidFill>
          <a:ln/>
        </p:spPr>
      </p:sp>
      <p:sp>
        <p:nvSpPr>
          <p:cNvPr id="11" name="Text 9"/>
          <p:cNvSpPr/>
          <p:nvPr/>
        </p:nvSpPr>
        <p:spPr>
          <a:xfrm>
            <a:off x="5582412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62272" y="2834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Tuning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07992" y="3383280"/>
            <a:ext cx="28803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decision cutoff (e.g. classification threshold) to balance false positives and false negatives for the use case. ROC and precision-recall curves help locate the best operating point.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18704" y="160020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267444" y="1920240"/>
            <a:ext cx="731520" cy="731520"/>
          </a:xfrm>
          <a:prstGeom prst="ellipse">
            <a:avLst/>
          </a:prstGeom>
          <a:solidFill>
            <a:srgbClr val="4C7EF3"/>
          </a:solidFill>
          <a:ln/>
        </p:spPr>
      </p:sp>
      <p:sp>
        <p:nvSpPr>
          <p:cNvPr id="16" name="Text 14"/>
          <p:cNvSpPr/>
          <p:nvPr/>
        </p:nvSpPr>
        <p:spPr>
          <a:xfrm>
            <a:off x="9267444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147304" y="2834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93024" y="3383280"/>
            <a:ext cx="28803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outputs through charts, dashboards, or score breakdowns so results are interpretable to non-technical stakeholders. Confidence indicators add further transparency to each prediction.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model quality beyond a single accuracy number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74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2496312"/>
            <a:ext cx="169164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51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(TP+TN) / Total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share of correct predictions — can be misleading on imbalanced data. Best used when classes are roughly balanced.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4C7EF3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874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40480" y="2496312"/>
            <a:ext cx="169164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651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(TP+FP)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32918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positive predictions, how many were actually correct. Matters most when false positives are costly.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874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675120" y="2496312"/>
            <a:ext cx="169164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651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(TP+FN)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actual positives, how many the model successfully caught. Matters most when missed positives are costly.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60020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4C7EF3"/>
          </a:solidFill>
          <a:ln/>
        </p:spPr>
      </p:sp>
      <p:sp>
        <p:nvSpPr>
          <p:cNvPr id="20" name="Text 18"/>
          <p:cNvSpPr/>
          <p:nvPr/>
        </p:nvSpPr>
        <p:spPr>
          <a:xfrm>
            <a:off x="9189720" y="18745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509760" y="2496312"/>
            <a:ext cx="169164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2651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(P·R)/(P+R)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35440" y="32918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 — a single balanced measure. Useful when both false positives and negatives matter.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Robustness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a model generalizes beyond the data it was trained 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105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Cross-Validation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57200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data into multiple folds so every observation is used for both training and testing.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risk that performance looks good only because of a lucky train/test split.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(commonly k = 5 or 10) rotates the held-out fold and averages results across runs.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validated this way generalizes more reliably to unseen, real-world cases.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supports hyperparameter tuning without touching the final held-out test set.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9864" y="1590040"/>
            <a:ext cx="6309360" cy="406908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7830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5-Fold Cross-Validation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72200" y="2331720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20840" y="2331720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4C7EF3"/>
          </a:solidFill>
          <a:ln/>
        </p:spPr>
      </p:sp>
      <p:sp>
        <p:nvSpPr>
          <p:cNvPr id="11" name="Shape 9"/>
          <p:cNvSpPr/>
          <p:nvPr/>
        </p:nvSpPr>
        <p:spPr>
          <a:xfrm>
            <a:off x="7783373" y="2331720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12" name="Shape 10"/>
          <p:cNvSpPr/>
          <p:nvPr/>
        </p:nvSpPr>
        <p:spPr>
          <a:xfrm>
            <a:off x="8845906" y="2331720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13" name="Shape 11"/>
          <p:cNvSpPr/>
          <p:nvPr/>
        </p:nvSpPr>
        <p:spPr>
          <a:xfrm>
            <a:off x="9908438" y="2331720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0971" y="2331720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2990088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20840" y="2990088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3373" y="2990088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4C7EF3"/>
          </a:solidFill>
          <a:ln/>
        </p:spPr>
      </p:sp>
      <p:sp>
        <p:nvSpPr>
          <p:cNvPr id="18" name="Shape 16"/>
          <p:cNvSpPr/>
          <p:nvPr/>
        </p:nvSpPr>
        <p:spPr>
          <a:xfrm>
            <a:off x="8845906" y="2990088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19" name="Shape 17"/>
          <p:cNvSpPr/>
          <p:nvPr/>
        </p:nvSpPr>
        <p:spPr>
          <a:xfrm>
            <a:off x="9908438" y="2990088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70971" y="2990088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3648456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20840" y="3648456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3373" y="3648456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24" name="Shape 22"/>
          <p:cNvSpPr/>
          <p:nvPr/>
        </p:nvSpPr>
        <p:spPr>
          <a:xfrm>
            <a:off x="8845906" y="3648456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4C7EF3"/>
          </a:solidFill>
          <a:ln/>
        </p:spPr>
      </p:sp>
      <p:sp>
        <p:nvSpPr>
          <p:cNvPr id="25" name="Shape 23"/>
          <p:cNvSpPr/>
          <p:nvPr/>
        </p:nvSpPr>
        <p:spPr>
          <a:xfrm>
            <a:off x="9908438" y="3648456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70971" y="3648456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4306824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4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20840" y="4306824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29" name="Shape 27"/>
          <p:cNvSpPr/>
          <p:nvPr/>
        </p:nvSpPr>
        <p:spPr>
          <a:xfrm>
            <a:off x="7783373" y="4306824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30" name="Shape 28"/>
          <p:cNvSpPr/>
          <p:nvPr/>
        </p:nvSpPr>
        <p:spPr>
          <a:xfrm>
            <a:off x="8845906" y="4306824"/>
            <a:ext cx="1007670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31" name="Shape 29"/>
          <p:cNvSpPr/>
          <p:nvPr/>
        </p:nvSpPr>
        <p:spPr>
          <a:xfrm>
            <a:off x="9908438" y="4306824"/>
            <a:ext cx="1007669" cy="530352"/>
          </a:xfrm>
          <a:prstGeom prst="roundRect">
            <a:avLst>
              <a:gd name="adj" fmla="val 6897"/>
            </a:avLst>
          </a:prstGeom>
          <a:solidFill>
            <a:srgbClr val="4C7EF3"/>
          </a:solidFill>
          <a:ln/>
        </p:spPr>
      </p:sp>
      <p:sp>
        <p:nvSpPr>
          <p:cNvPr id="32" name="Shape 30"/>
          <p:cNvSpPr/>
          <p:nvPr/>
        </p:nvSpPr>
        <p:spPr>
          <a:xfrm>
            <a:off x="10970971" y="4306824"/>
            <a:ext cx="1007669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4965192"/>
            <a:ext cx="777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20840" y="4965192"/>
            <a:ext cx="1007669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35" name="Shape 33"/>
          <p:cNvSpPr/>
          <p:nvPr/>
        </p:nvSpPr>
        <p:spPr>
          <a:xfrm>
            <a:off x="7783373" y="4965192"/>
            <a:ext cx="1007669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36" name="Shape 34"/>
          <p:cNvSpPr/>
          <p:nvPr/>
        </p:nvSpPr>
        <p:spPr>
          <a:xfrm>
            <a:off x="8845906" y="4965192"/>
            <a:ext cx="1007669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37" name="Shape 35"/>
          <p:cNvSpPr/>
          <p:nvPr/>
        </p:nvSpPr>
        <p:spPr>
          <a:xfrm>
            <a:off x="9908438" y="4965192"/>
            <a:ext cx="1007669" cy="530352"/>
          </a:xfrm>
          <a:prstGeom prst="roundRect">
            <a:avLst>
              <a:gd name="adj" fmla="val 6897"/>
            </a:avLst>
          </a:prstGeom>
          <a:solidFill>
            <a:srgbClr val="3A4590"/>
          </a:solidFill>
          <a:ln/>
        </p:spPr>
      </p:sp>
      <p:sp>
        <p:nvSpPr>
          <p:cNvPr id="38" name="Shape 36"/>
          <p:cNvSpPr/>
          <p:nvPr/>
        </p:nvSpPr>
        <p:spPr>
          <a:xfrm>
            <a:off x="10970971" y="4965192"/>
            <a:ext cx="1007669" cy="530352"/>
          </a:xfrm>
          <a:prstGeom prst="roundRect">
            <a:avLst>
              <a:gd name="adj" fmla="val 6897"/>
            </a:avLst>
          </a:prstGeom>
          <a:solidFill>
            <a:srgbClr val="4C7EF3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097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end-to-end pipeline turns raw data into a validated, trustworthy decision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41A45"/>
          </a:solidFill>
          <a:ln w="12700">
            <a:solidFill>
              <a:srgbClr val="4C7E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432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97480" y="2743200"/>
            <a:ext cx="292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90088" y="2743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41A45"/>
          </a:solidFill>
          <a:ln w="12700">
            <a:solidFill>
              <a:srgbClr val="4C7E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27432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64608" y="2743200"/>
            <a:ext cx="292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57216" y="2743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4C7EF3"/>
          </a:solidFill>
          <a:ln w="12700">
            <a:solidFill>
              <a:srgbClr val="4C7E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57216" y="27432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31736" y="2743200"/>
            <a:ext cx="292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24344" y="2743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41A45"/>
          </a:solidFill>
          <a:ln w="12700">
            <a:solidFill>
              <a:srgbClr val="4C7E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24344" y="27432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98864" y="2743200"/>
            <a:ext cx="292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91472" y="2743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41A45"/>
          </a:solidFill>
          <a:ln w="12700">
            <a:solidFill>
              <a:srgbClr val="4C7E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91472" y="274320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16052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improves signal quality before a model ever sees the data.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turns raw scores into refined, interpretable outputs.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evaluation confirms the model generalizes, not just memorizes.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stages form a robust, reproducible, and trustworthy ML pipeline.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471</Words>
  <Application>Microsoft Office PowerPoint</Application>
  <PresentationFormat>Widescreen</PresentationFormat>
  <Paragraphs>87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 Hemanth kumar</cp:lastModifiedBy>
  <cp:revision>3</cp:revision>
  <dcterms:created xsi:type="dcterms:W3CDTF">2026-07-22T08:43:08Z</dcterms:created>
  <dcterms:modified xsi:type="dcterms:W3CDTF">2026-07-22T08:51:26Z</dcterms:modified>
</cp:coreProperties>
</file>