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D4104-FB74-4758-A2AA-CA5C9FE02C5C}" v="3" dt="2026-07-29T03:37:52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n204994@gmail.com" userId="5ae8c937711d2d60" providerId="LiveId" clId="{1B583AAB-CC14-46F0-98CD-2CF917D1F97D}"/>
    <pc:docChg chg="undo custSel addSld modSld">
      <pc:chgData name="rn204994@gmail.com" userId="5ae8c937711d2d60" providerId="LiveId" clId="{1B583AAB-CC14-46F0-98CD-2CF917D1F97D}" dt="2026-07-29T03:51:44.942" v="345" actId="1037"/>
      <pc:docMkLst>
        <pc:docMk/>
      </pc:docMkLst>
      <pc:sldChg chg="addSp delSp modSp mod">
        <pc:chgData name="rn204994@gmail.com" userId="5ae8c937711d2d60" providerId="LiveId" clId="{1B583AAB-CC14-46F0-98CD-2CF917D1F97D}" dt="2026-07-29T03:36:32.978" v="32" actId="1076"/>
        <pc:sldMkLst>
          <pc:docMk/>
          <pc:sldMk cId="0" sldId="256"/>
        </pc:sldMkLst>
        <pc:spChg chg="del">
          <ac:chgData name="rn204994@gmail.com" userId="5ae8c937711d2d60" providerId="LiveId" clId="{1B583AAB-CC14-46F0-98CD-2CF917D1F97D}" dt="2026-07-29T03:36:13.148" v="6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36:26.925" v="3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36:32.978" v="32" actId="1076"/>
          <ac:spMkLst>
            <pc:docMk/>
            <pc:sldMk cId="0" sldId="256"/>
            <ac:spMk id="7" creationId="{00000000-0000-0000-0000-000000000000}"/>
          </ac:spMkLst>
        </pc:spChg>
        <pc:picChg chg="del mod">
          <ac:chgData name="rn204994@gmail.com" userId="5ae8c937711d2d60" providerId="LiveId" clId="{1B583AAB-CC14-46F0-98CD-2CF917D1F97D}" dt="2026-07-29T03:35:53.412" v="3" actId="478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rn204994@gmail.com" userId="5ae8c937711d2d60" providerId="LiveId" clId="{1B583AAB-CC14-46F0-98CD-2CF917D1F97D}" dt="2026-07-29T03:35:56.202" v="4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rn204994@gmail.com" userId="5ae8c937711d2d60" providerId="LiveId" clId="{1B583AAB-CC14-46F0-98CD-2CF917D1F97D}" dt="2026-07-29T03:36:19.634" v="7" actId="1076"/>
          <ac:picMkLst>
            <pc:docMk/>
            <pc:sldMk cId="0" sldId="256"/>
            <ac:picMk id="14" creationId="{E37DE9D4-79F3-0DE3-5780-6853A38764F7}"/>
          </ac:picMkLst>
        </pc:picChg>
      </pc:sldChg>
      <pc:sldChg chg="modSp mod">
        <pc:chgData name="rn204994@gmail.com" userId="5ae8c937711d2d60" providerId="LiveId" clId="{1B583AAB-CC14-46F0-98CD-2CF917D1F97D}" dt="2026-07-29T03:51:44.942" v="345" actId="1037"/>
        <pc:sldMkLst>
          <pc:docMk/>
          <pc:sldMk cId="0" sldId="257"/>
        </pc:sldMkLst>
        <pc:spChg chg="mod">
          <ac:chgData name="rn204994@gmail.com" userId="5ae8c937711d2d60" providerId="LiveId" clId="{1B583AAB-CC14-46F0-98CD-2CF917D1F97D}" dt="2026-07-29T03:51:44.942" v="345" actId="1037"/>
          <ac:spMkLst>
            <pc:docMk/>
            <pc:sldMk cId="0" sldId="257"/>
            <ac:spMk id="7" creationId="{00000000-0000-0000-0000-000000000000}"/>
          </ac:spMkLst>
        </pc:spChg>
      </pc:sldChg>
      <pc:sldChg chg="addSp delSp modSp mod">
        <pc:chgData name="rn204994@gmail.com" userId="5ae8c937711d2d60" providerId="LiveId" clId="{1B583AAB-CC14-46F0-98CD-2CF917D1F97D}" dt="2026-07-29T03:44:21.283" v="238" actId="1076"/>
        <pc:sldMkLst>
          <pc:docMk/>
          <pc:sldMk cId="0" sldId="259"/>
        </pc:sldMkLst>
        <pc:spChg chg="mod">
          <ac:chgData name="rn204994@gmail.com" userId="5ae8c937711d2d60" providerId="LiveId" clId="{1B583AAB-CC14-46F0-98CD-2CF917D1F97D}" dt="2026-07-29T03:41:42.082" v="225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44:01.370" v="231" actId="1076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0.611" v="226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1:53.121" v="227" actId="47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38:06.960" v="81" actId="20577"/>
          <ac:spMkLst>
            <pc:docMk/>
            <pc:sldMk cId="0" sldId="259"/>
            <ac:spMk id="29" creationId="{00000000-0000-0000-0000-000000000000}"/>
          </ac:spMkLst>
        </pc:spChg>
        <pc:picChg chg="add mod">
          <ac:chgData name="rn204994@gmail.com" userId="5ae8c937711d2d60" providerId="LiveId" clId="{1B583AAB-CC14-46F0-98CD-2CF917D1F97D}" dt="2026-07-29T03:44:21.283" v="238" actId="1076"/>
          <ac:picMkLst>
            <pc:docMk/>
            <pc:sldMk cId="0" sldId="259"/>
            <ac:picMk id="33" creationId="{E85321C3-48F9-9347-15BF-4B6F95717593}"/>
          </ac:picMkLst>
        </pc:picChg>
      </pc:sldChg>
      <pc:sldChg chg="delSp modSp mod">
        <pc:chgData name="rn204994@gmail.com" userId="5ae8c937711d2d60" providerId="LiveId" clId="{1B583AAB-CC14-46F0-98CD-2CF917D1F97D}" dt="2026-07-29T03:49:52.462" v="325" actId="478"/>
        <pc:sldMkLst>
          <pc:docMk/>
          <pc:sldMk cId="0" sldId="262"/>
        </pc:sldMkLst>
        <pc:spChg chg="mod">
          <ac:chgData name="rn204994@gmail.com" userId="5ae8c937711d2d60" providerId="LiveId" clId="{1B583AAB-CC14-46F0-98CD-2CF917D1F97D}" dt="2026-07-29T03:49:37.599" v="31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48:02.929" v="298" actId="14100"/>
          <ac:spMkLst>
            <pc:docMk/>
            <pc:sldMk cId="0" sldId="262"/>
            <ac:spMk id="5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9:49.958" v="324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49:46.532" v="323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48:17.511" v="300" actId="1076"/>
          <ac:spMkLst>
            <pc:docMk/>
            <pc:sldMk cId="0" sldId="262"/>
            <ac:spMk id="9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7:42.825" v="293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7:47.032" v="294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rn204994@gmail.com" userId="5ae8c937711d2d60" providerId="LiveId" clId="{1B583AAB-CC14-46F0-98CD-2CF917D1F97D}" dt="2026-07-29T03:47:47.032" v="294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n204994@gmail.com" userId="5ae8c937711d2d60" providerId="LiveId" clId="{1B583AAB-CC14-46F0-98CD-2CF917D1F97D}" dt="2026-07-29T03:47:53.212" v="296" actId="5793"/>
          <ac:spMkLst>
            <pc:docMk/>
            <pc:sldMk cId="0" sldId="262"/>
            <ac:spMk id="14" creationId="{00000000-0000-0000-0000-000000000000}"/>
          </ac:spMkLst>
        </pc:spChg>
        <pc:picChg chg="del">
          <ac:chgData name="rn204994@gmail.com" userId="5ae8c937711d2d60" providerId="LiveId" clId="{1B583AAB-CC14-46F0-98CD-2CF917D1F97D}" dt="2026-07-29T03:49:52.462" v="325" actId="478"/>
          <ac:picMkLst>
            <pc:docMk/>
            <pc:sldMk cId="0" sldId="262"/>
            <ac:picMk id="7" creationId="{00000000-0000-0000-0000-000000000000}"/>
          </ac:picMkLst>
        </pc:picChg>
        <pc:picChg chg="del">
          <ac:chgData name="rn204994@gmail.com" userId="5ae8c937711d2d60" providerId="LiveId" clId="{1B583AAB-CC14-46F0-98CD-2CF917D1F97D}" dt="2026-07-29T03:47:47.032" v="294" actId="478"/>
          <ac:picMkLst>
            <pc:docMk/>
            <pc:sldMk cId="0" sldId="262"/>
            <ac:picMk id="12" creationId="{00000000-0000-0000-0000-000000000000}"/>
          </ac:picMkLst>
        </pc:picChg>
      </pc:sldChg>
      <pc:sldChg chg="modSp add mod">
        <pc:chgData name="rn204994@gmail.com" userId="5ae8c937711d2d60" providerId="LiveId" clId="{1B583AAB-CC14-46F0-98CD-2CF917D1F97D}" dt="2026-07-29T03:41:29.741" v="202" actId="20577"/>
        <pc:sldMkLst>
          <pc:docMk/>
          <pc:sldMk cId="1937382873" sldId="263"/>
        </pc:sldMkLst>
        <pc:spChg chg="mod">
          <ac:chgData name="rn204994@gmail.com" userId="5ae8c937711d2d60" providerId="LiveId" clId="{1B583AAB-CC14-46F0-98CD-2CF917D1F97D}" dt="2026-07-29T03:41:29.741" v="202" actId="20577"/>
          <ac:spMkLst>
            <pc:docMk/>
            <pc:sldMk cId="1937382873" sldId="263"/>
            <ac:spMk id="4" creationId="{153B8DED-407C-1524-0A3A-287F3A54F6AB}"/>
          </ac:spMkLst>
        </pc:spChg>
        <pc:spChg chg="mod">
          <ac:chgData name="rn204994@gmail.com" userId="5ae8c937711d2d60" providerId="LiveId" clId="{1B583AAB-CC14-46F0-98CD-2CF917D1F97D}" dt="2026-07-29T03:39:45.778" v="119" actId="20577"/>
          <ac:spMkLst>
            <pc:docMk/>
            <pc:sldMk cId="1937382873" sldId="263"/>
            <ac:spMk id="5" creationId="{78D3D15F-2C28-F0C6-B30F-A8D88C359309}"/>
          </ac:spMkLst>
        </pc:spChg>
        <pc:spChg chg="mod">
          <ac:chgData name="rn204994@gmail.com" userId="5ae8c937711d2d60" providerId="LiveId" clId="{1B583AAB-CC14-46F0-98CD-2CF917D1F97D}" dt="2026-07-29T03:40:18.692" v="186" actId="1076"/>
          <ac:spMkLst>
            <pc:docMk/>
            <pc:sldMk cId="1937382873" sldId="263"/>
            <ac:spMk id="6" creationId="{8681C98A-1E8C-F4BE-EF31-82812A27D632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8" creationId="{0DAC8695-0E14-C7D7-E655-DCC074F43F3B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9" creationId="{30C08BA9-0661-DA3F-A415-8D9AB247AE2E}"/>
          </ac:spMkLst>
        </pc:spChg>
        <pc:spChg chg="mod">
          <ac:chgData name="rn204994@gmail.com" userId="5ae8c937711d2d60" providerId="LiveId" clId="{1B583AAB-CC14-46F0-98CD-2CF917D1F97D}" dt="2026-07-29T03:40:27.305" v="187" actId="1076"/>
          <ac:spMkLst>
            <pc:docMk/>
            <pc:sldMk cId="1937382873" sldId="263"/>
            <ac:spMk id="10" creationId="{14248BE7-7C12-42E9-1C7F-F649E0FED4A2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12" creationId="{90BC7619-1BAF-B0EB-D1B6-BFB62B92359C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13" creationId="{41B164CA-1B15-8D22-19D7-2BE126A00B11}"/>
          </ac:spMkLst>
        </pc:spChg>
        <pc:spChg chg="mod">
          <ac:chgData name="rn204994@gmail.com" userId="5ae8c937711d2d60" providerId="LiveId" clId="{1B583AAB-CC14-46F0-98CD-2CF917D1F97D}" dt="2026-07-29T03:40:37.781" v="189" actId="1036"/>
          <ac:spMkLst>
            <pc:docMk/>
            <pc:sldMk cId="1937382873" sldId="263"/>
            <ac:spMk id="14" creationId="{E34006D2-777F-2180-49C0-4066E30B0BEB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16" creationId="{DF1CA22C-86A6-84F9-789A-4DF15443B6BB}"/>
          </ac:spMkLst>
        </pc:spChg>
        <pc:spChg chg="mod">
          <ac:chgData name="rn204994@gmail.com" userId="5ae8c937711d2d60" providerId="LiveId" clId="{1B583AAB-CC14-46F0-98CD-2CF917D1F97D}" dt="2026-07-29T03:40:50.786" v="190" actId="1076"/>
          <ac:spMkLst>
            <pc:docMk/>
            <pc:sldMk cId="1937382873" sldId="263"/>
            <ac:spMk id="18" creationId="{01604741-BE94-B1D4-9819-33F04FD3369E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20" creationId="{372E149E-2601-258E-97F1-439398A68EF5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21" creationId="{BA4E93CA-08DE-708B-BEFB-E2B5B6B4023F}"/>
          </ac:spMkLst>
        </pc:spChg>
        <pc:spChg chg="mod">
          <ac:chgData name="rn204994@gmail.com" userId="5ae8c937711d2d60" providerId="LiveId" clId="{1B583AAB-CC14-46F0-98CD-2CF917D1F97D}" dt="2026-07-29T03:41:01.506" v="191" actId="1076"/>
          <ac:spMkLst>
            <pc:docMk/>
            <pc:sldMk cId="1937382873" sldId="263"/>
            <ac:spMk id="22" creationId="{8EE2825E-6949-845B-FFA6-F291452ED046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24" creationId="{F3536E72-EAA3-6414-E2A2-964845557F6C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25" creationId="{89143D9A-76F3-C241-17E4-DF2FD97A05A7}"/>
          </ac:spMkLst>
        </pc:spChg>
        <pc:spChg chg="mod">
          <ac:chgData name="rn204994@gmail.com" userId="5ae8c937711d2d60" providerId="LiveId" clId="{1B583AAB-CC14-46F0-98CD-2CF917D1F97D}" dt="2026-07-29T03:41:16.398" v="192" actId="1076"/>
          <ac:spMkLst>
            <pc:docMk/>
            <pc:sldMk cId="1937382873" sldId="263"/>
            <ac:spMk id="26" creationId="{C9B46023-50C6-384B-062C-1B6993A42218}"/>
          </ac:spMkLst>
        </pc:spChg>
        <pc:spChg chg="mod">
          <ac:chgData name="rn204994@gmail.com" userId="5ae8c937711d2d60" providerId="LiveId" clId="{1B583AAB-CC14-46F0-98CD-2CF917D1F97D}" dt="2026-07-29T03:40:08.759" v="185" actId="1036"/>
          <ac:spMkLst>
            <pc:docMk/>
            <pc:sldMk cId="1937382873" sldId="263"/>
            <ac:spMk id="28" creationId="{B714328E-E0BD-C91F-DBF8-43081A85DE17}"/>
          </ac:spMkLst>
        </pc:spChg>
      </pc:sldChg>
      <pc:sldChg chg="delSp modSp add mod">
        <pc:chgData name="rn204994@gmail.com" userId="5ae8c937711d2d60" providerId="LiveId" clId="{1B583AAB-CC14-46F0-98CD-2CF917D1F97D}" dt="2026-07-29T03:50:11.659" v="337" actId="478"/>
        <pc:sldMkLst>
          <pc:docMk/>
          <pc:sldMk cId="1536662347" sldId="264"/>
        </pc:sldMkLst>
        <pc:spChg chg="mod">
          <ac:chgData name="rn204994@gmail.com" userId="5ae8c937711d2d60" providerId="LiveId" clId="{1B583AAB-CC14-46F0-98CD-2CF917D1F97D}" dt="2026-07-29T03:46:45.063" v="268" actId="20577"/>
          <ac:spMkLst>
            <pc:docMk/>
            <pc:sldMk cId="1536662347" sldId="264"/>
            <ac:spMk id="4" creationId="{3D89D666-8C76-FDF1-A828-98249AF2DEF8}"/>
          </ac:spMkLst>
        </pc:spChg>
        <pc:spChg chg="del">
          <ac:chgData name="rn204994@gmail.com" userId="5ae8c937711d2d60" providerId="LiveId" clId="{1B583AAB-CC14-46F0-98CD-2CF917D1F97D}" dt="2026-07-29T03:46:03.073" v="241" actId="478"/>
          <ac:spMkLst>
            <pc:docMk/>
            <pc:sldMk cId="1536662347" sldId="264"/>
            <ac:spMk id="5" creationId="{76E1D3E3-06DD-A59F-F029-04287F44B32D}"/>
          </ac:spMkLst>
        </pc:spChg>
        <pc:spChg chg="del">
          <ac:chgData name="rn204994@gmail.com" userId="5ae8c937711d2d60" providerId="LiveId" clId="{1B583AAB-CC14-46F0-98CD-2CF917D1F97D}" dt="2026-07-29T03:46:22.043" v="253" actId="478"/>
          <ac:spMkLst>
            <pc:docMk/>
            <pc:sldMk cId="1536662347" sldId="264"/>
            <ac:spMk id="6" creationId="{9B7C16B0-85B3-2CD5-55B1-8DD1B3A92D1E}"/>
          </ac:spMkLst>
        </pc:spChg>
        <pc:spChg chg="mod">
          <ac:chgData name="rn204994@gmail.com" userId="5ae8c937711d2d60" providerId="LiveId" clId="{1B583AAB-CC14-46F0-98CD-2CF917D1F97D}" dt="2026-07-29T03:46:18.968" v="252" actId="20577"/>
          <ac:spMkLst>
            <pc:docMk/>
            <pc:sldMk cId="1536662347" sldId="264"/>
            <ac:spMk id="8" creationId="{3E78A02D-A278-70EF-2A49-FFFA095136EE}"/>
          </ac:spMkLst>
        </pc:spChg>
        <pc:spChg chg="mod">
          <ac:chgData name="rn204994@gmail.com" userId="5ae8c937711d2d60" providerId="LiveId" clId="{1B583AAB-CC14-46F0-98CD-2CF917D1F97D}" dt="2026-07-29T03:46:11.125" v="242" actId="20577"/>
          <ac:spMkLst>
            <pc:docMk/>
            <pc:sldMk cId="1536662347" sldId="264"/>
            <ac:spMk id="9" creationId="{7C0EFB52-8746-A9E1-2AF8-15A25F924BF0}"/>
          </ac:spMkLst>
        </pc:spChg>
        <pc:spChg chg="mod">
          <ac:chgData name="rn204994@gmail.com" userId="5ae8c937711d2d60" providerId="LiveId" clId="{1B583AAB-CC14-46F0-98CD-2CF917D1F97D}" dt="2026-07-29T03:46:32.052" v="255" actId="14100"/>
          <ac:spMkLst>
            <pc:docMk/>
            <pc:sldMk cId="1536662347" sldId="264"/>
            <ac:spMk id="10" creationId="{2CEE4EE2-9502-9F4C-D82A-27ED23641A07}"/>
          </ac:spMkLst>
        </pc:spChg>
        <pc:spChg chg="del mod">
          <ac:chgData name="rn204994@gmail.com" userId="5ae8c937711d2d60" providerId="LiveId" clId="{1B583AAB-CC14-46F0-98CD-2CF917D1F97D}" dt="2026-07-29T03:50:11.659" v="337" actId="478"/>
          <ac:spMkLst>
            <pc:docMk/>
            <pc:sldMk cId="1536662347" sldId="264"/>
            <ac:spMk id="11" creationId="{70A940B0-EA2E-9154-ABEA-5DEF7D631D0D}"/>
          </ac:spMkLst>
        </pc:spChg>
        <pc:spChg chg="mod">
          <ac:chgData name="rn204994@gmail.com" userId="5ae8c937711d2d60" providerId="LiveId" clId="{1B583AAB-CC14-46F0-98CD-2CF917D1F97D}" dt="2026-07-29T03:50:07.240" v="335" actId="20577"/>
          <ac:spMkLst>
            <pc:docMk/>
            <pc:sldMk cId="1536662347" sldId="264"/>
            <ac:spMk id="13" creationId="{68B0F1D9-756D-203C-23E6-0E077B81E940}"/>
          </ac:spMkLst>
        </pc:spChg>
        <pc:spChg chg="mod">
          <ac:chgData name="rn204994@gmail.com" userId="5ae8c937711d2d60" providerId="LiveId" clId="{1B583AAB-CC14-46F0-98CD-2CF917D1F97D}" dt="2026-07-29T03:47:34.846" v="292" actId="255"/>
          <ac:spMkLst>
            <pc:docMk/>
            <pc:sldMk cId="1536662347" sldId="264"/>
            <ac:spMk id="14" creationId="{3FB17ED7-89F4-5981-A3BE-B4CADCB30247}"/>
          </ac:spMkLst>
        </pc:spChg>
        <pc:picChg chg="del mod">
          <ac:chgData name="rn204994@gmail.com" userId="5ae8c937711d2d60" providerId="LiveId" clId="{1B583AAB-CC14-46F0-98CD-2CF917D1F97D}" dt="2026-07-29T03:50:10.185" v="336" actId="478"/>
          <ac:picMkLst>
            <pc:docMk/>
            <pc:sldMk cId="1536662347" sldId="264"/>
            <ac:picMk id="12" creationId="{1F201C5E-0EA5-3654-C8AD-2F278841BD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565C1-6C1D-1941-8CD4-6245B910A71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D4C6E-1F7E-1D4D-AADB-A11B61763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44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EAEF-3105-71E0-03FB-D303474E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82B7C-9ABA-35D3-93EF-589FF8E73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490BB-3399-FDDB-2871-10DCB6A6D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171F-2355-7EA5-0034-25EC3912E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33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0F1E-FA94-6DB2-912F-6903D03D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986D6-5FBB-3E05-B899-405F79197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74CDA-9F87-99AE-B186-4A3238FAC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38AAE-AFC0-F353-EA6B-E737EB9AB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6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5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 descr="/home/claude/project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1431950"/>
            <a:ext cx="427939" cy="42793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658368" y="2194560"/>
            <a:ext cx="10241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 Network Model for Predicting Electricity Bill Anomalies in Small Homes</a:t>
            </a:r>
            <a:endParaRPr lang="en-US" sz="3200" dirty="0"/>
          </a:p>
        </p:txBody>
      </p:sp>
      <p:sp>
        <p:nvSpPr>
          <p:cNvPr id="8" name="Shape 3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19050">
            <a:solidFill>
              <a:srgbClr val="C7D9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4"/>
          <p:cNvSpPr/>
          <p:nvPr/>
        </p:nvSpPr>
        <p:spPr>
          <a:xfrm>
            <a:off x="658368" y="4663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Code:  </a:t>
            </a:r>
            <a:r>
              <a:rPr lang="en-US" sz="16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
</a:t>
            </a:r>
            <a:r>
              <a:rPr lang="en-US" sz="1600" b="1" dirty="0">
                <a:solidFill>
                  <a:srgbClr val="065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Name:  </a:t>
            </a:r>
            <a:r>
              <a:rPr lang="en-US" sz="16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58368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58368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Rishi Raghav . K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58368" y="6327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Renganathan . A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7DE9D4-79F3-0DE3-5780-6853A3876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99" y="384120"/>
            <a:ext cx="11099662" cy="115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Electricity bill anomalies are unexpected spikes, drops, or irregular patterns in household power consumption that deviate from normal usage behaviour.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Detecting abnormal consumption early helps prevent billing errors, identify energy theft, and flag faulty appliances or meter malfunctions.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analyses historical usage data to learn what "normal" consumption looks like and automatically flags deviations.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 networks are especially suitable because they capture complex, non-linear relationships between time, voltage, current, and power that simpler statistical models miss.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949440" y="1234440"/>
            <a:ext cx="4709160" cy="4892040"/>
          </a:xfrm>
          <a:prstGeom prst="roundRect">
            <a:avLst>
              <a:gd name="adj" fmla="val 233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8472753" y="13487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8554212" y="1847088"/>
            <a:ext cx="1499616" cy="960120"/>
          </a:xfrm>
          <a:prstGeom prst="roundRect">
            <a:avLst>
              <a:gd name="adj" fmla="val 4762"/>
            </a:avLst>
          </a:prstGeom>
          <a:solidFill>
            <a:srgbClr val="0E3A5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/home/claude/project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2029968"/>
            <a:ext cx="822960" cy="5943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645652" y="2971800"/>
            <a:ext cx="146304" cy="146304"/>
          </a:xfrm>
          <a:prstGeom prst="ellipse">
            <a:avLst/>
          </a:prstGeom>
          <a:solidFill>
            <a:srgbClr val="5BD3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8892540" y="2971800"/>
            <a:ext cx="146304" cy="146304"/>
          </a:xfrm>
          <a:prstGeom prst="ellipse">
            <a:avLst/>
          </a:prstGeom>
          <a:solidFill>
            <a:srgbClr val="F2C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9139428" y="2971800"/>
            <a:ext cx="146304" cy="146304"/>
          </a:xfrm>
          <a:prstGeom prst="ellipse">
            <a:avLst/>
          </a:prstGeom>
          <a:solidFill>
            <a:srgbClr val="E457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8554212" y="32004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7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kWh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806940" y="1389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project/icons/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668" y="149961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37947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Electricity Meter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26948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energy-monitoring hardware that streams voltage, current and power readings used to train the anomaly-detection model.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B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C050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2" descr="/home/claude/project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1823314"/>
            <a:ext cx="285293" cy="2852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17373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3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68680" y="242316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5A3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detection of abnormal electricity bills is difficult and time-consuming for utility providers.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5A3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errors and undetected energy theft lead to significant financial losses each year.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5A3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rule-based methods often fail to capture complex, non-linear usage patterns.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291072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6611112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3" descr="/home/claude/project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786" y="1823314"/>
            <a:ext cx="285293" cy="2852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96912" y="17373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611112" y="242316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abnormal electricity bills accurately using a trained neural network.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billing errors through automated, data-driven verification.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unusual electricity consumption early, before it escalates.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consumer awareness and overall utility efficiency.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425196" y="100584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Kaggle “Household Electric Power Consumption” dataset — minute-level household energy readings.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features: Date, Time, Voltage, Current, Global Active Power, Global Reactive Power, and sub-metered Energy Consumption.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cleaning missing/erroneous values, normalization of numeric features, and selection of the most relevant predictors.</a:t>
            </a:r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endParaRPr lang="en-US" dirty="0">
              <a:solidFill>
                <a:srgbClr val="1B2A38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dirty="0"/>
              <a:t>https://www.kaggle.com/datasets/uciml/electric-power-consumption-data-set</a:t>
            </a:r>
          </a:p>
        </p:txBody>
      </p:sp>
      <p:sp>
        <p:nvSpPr>
          <p:cNvPr id="28" name="Text 18"/>
          <p:cNvSpPr/>
          <p:nvPr/>
        </p:nvSpPr>
        <p:spPr>
          <a:xfrm>
            <a:off x="10012680" y="438912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85321C3-48F9-9347-15BF-4B6F95717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302" y="3725321"/>
            <a:ext cx="9171992" cy="2424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17653-A3EB-BFF1-3CD8-BA1D8CBE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>
            <a:extLst>
              <a:ext uri="{FF2B5EF4-FFF2-40B4-BE49-F238E27FC236}">
                <a16:creationId xmlns:a16="http://schemas.microsoft.com/office/drawing/2014/main" id="{7E17DC51-AE28-F534-7506-50B5CED7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>
            <a:extLst>
              <a:ext uri="{FF2B5EF4-FFF2-40B4-BE49-F238E27FC236}">
                <a16:creationId xmlns:a16="http://schemas.microsoft.com/office/drawing/2014/main" id="{FA16D095-0DB8-C63A-9C4C-2135F0292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53B8DED-407C-1524-0A3A-287F3A54F6AB}"/>
              </a:ext>
            </a:extLst>
          </p:cNvPr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8D3D15F-2C28-F0C6-B30F-A8D88C359309}"/>
              </a:ext>
            </a:extLst>
          </p:cNvPr>
          <p:cNvSpPr/>
          <p:nvPr/>
        </p:nvSpPr>
        <p:spPr>
          <a:xfrm>
            <a:off x="548640" y="118872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681C98A-1E8C-F4BE-EF31-82812A27D632}"/>
              </a:ext>
            </a:extLst>
          </p:cNvPr>
          <p:cNvSpPr/>
          <p:nvPr/>
        </p:nvSpPr>
        <p:spPr>
          <a:xfrm>
            <a:off x="534924" y="2308860"/>
            <a:ext cx="1627632" cy="1325880"/>
          </a:xfrm>
          <a:prstGeom prst="roundRect">
            <a:avLst>
              <a:gd name="adj" fmla="val 689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2" descr="/home/claude/project/icons/database.png">
            <a:extLst>
              <a:ext uri="{FF2B5EF4-FFF2-40B4-BE49-F238E27FC236}">
                <a16:creationId xmlns:a16="http://schemas.microsoft.com/office/drawing/2014/main" id="{1ADD21D6-256F-9529-D5CB-7A5C5F1D4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2534193"/>
            <a:ext cx="512064" cy="512064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0DAC8695-0E14-C7D7-E655-DCC074F43F3B}"/>
              </a:ext>
            </a:extLst>
          </p:cNvPr>
          <p:cNvSpPr/>
          <p:nvPr/>
        </p:nvSpPr>
        <p:spPr>
          <a:xfrm>
            <a:off x="548640" y="3082833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0C08BA9-0661-DA3F-A415-8D9AB247AE2E}"/>
              </a:ext>
            </a:extLst>
          </p:cNvPr>
          <p:cNvSpPr/>
          <p:nvPr/>
        </p:nvSpPr>
        <p:spPr>
          <a:xfrm>
            <a:off x="2176272" y="3014253"/>
            <a:ext cx="265176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4248BE7-7C12-42E9-1C7F-F649E0FED4A2}"/>
              </a:ext>
            </a:extLst>
          </p:cNvPr>
          <p:cNvSpPr/>
          <p:nvPr/>
        </p:nvSpPr>
        <p:spPr>
          <a:xfrm>
            <a:off x="2455164" y="2290572"/>
            <a:ext cx="1627632" cy="1325880"/>
          </a:xfrm>
          <a:prstGeom prst="roundRect">
            <a:avLst>
              <a:gd name="adj" fmla="val 689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3" descr="/home/claude/project/icons/search.png">
            <a:extLst>
              <a:ext uri="{FF2B5EF4-FFF2-40B4-BE49-F238E27FC236}">
                <a16:creationId xmlns:a16="http://schemas.microsoft.com/office/drawing/2014/main" id="{FE510B1C-060D-AC91-1646-7599C3638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232" y="2534193"/>
            <a:ext cx="512064" cy="512064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90BC7619-1BAF-B0EB-D1B6-BFB62B92359C}"/>
              </a:ext>
            </a:extLst>
          </p:cNvPr>
          <p:cNvSpPr/>
          <p:nvPr/>
        </p:nvSpPr>
        <p:spPr>
          <a:xfrm>
            <a:off x="2441448" y="3082833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B164CA-1B15-8D22-19D7-2BE126A00B11}"/>
              </a:ext>
            </a:extLst>
          </p:cNvPr>
          <p:cNvSpPr/>
          <p:nvPr/>
        </p:nvSpPr>
        <p:spPr>
          <a:xfrm>
            <a:off x="4069080" y="3014253"/>
            <a:ext cx="265176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E34006D2-777F-2180-49C0-4066E30B0BEB}"/>
              </a:ext>
            </a:extLst>
          </p:cNvPr>
          <p:cNvSpPr/>
          <p:nvPr/>
        </p:nvSpPr>
        <p:spPr>
          <a:xfrm>
            <a:off x="4347972" y="2299903"/>
            <a:ext cx="1627632" cy="1325880"/>
          </a:xfrm>
          <a:prstGeom prst="roundRect">
            <a:avLst>
              <a:gd name="adj" fmla="val 689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4" descr="/home/claude/project/icons/settings.png">
            <a:extLst>
              <a:ext uri="{FF2B5EF4-FFF2-40B4-BE49-F238E27FC236}">
                <a16:creationId xmlns:a16="http://schemas.microsoft.com/office/drawing/2014/main" id="{C2D87F91-F40D-B953-038A-7E3D301291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534193"/>
            <a:ext cx="512064" cy="512064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DF1CA22C-86A6-84F9-789A-4DF15443B6BB}"/>
              </a:ext>
            </a:extLst>
          </p:cNvPr>
          <p:cNvSpPr/>
          <p:nvPr/>
        </p:nvSpPr>
        <p:spPr>
          <a:xfrm>
            <a:off x="4334256" y="3082833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F583987F-83B5-128C-3738-1EE8FD5570F8}"/>
              </a:ext>
            </a:extLst>
          </p:cNvPr>
          <p:cNvSpPr/>
          <p:nvPr/>
        </p:nvSpPr>
        <p:spPr>
          <a:xfrm>
            <a:off x="5961888" y="3014253"/>
            <a:ext cx="265176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01604741-BE94-B1D4-9819-33F04FD3369E}"/>
              </a:ext>
            </a:extLst>
          </p:cNvPr>
          <p:cNvSpPr/>
          <p:nvPr/>
        </p:nvSpPr>
        <p:spPr>
          <a:xfrm>
            <a:off x="6233922" y="2315390"/>
            <a:ext cx="1627632" cy="1325880"/>
          </a:xfrm>
          <a:prstGeom prst="roundRect">
            <a:avLst>
              <a:gd name="adj" fmla="val 6897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/home/claude/project/icons/cpu.png">
            <a:extLst>
              <a:ext uri="{FF2B5EF4-FFF2-40B4-BE49-F238E27FC236}">
                <a16:creationId xmlns:a16="http://schemas.microsoft.com/office/drawing/2014/main" id="{D0B150BD-881E-AE8D-0B30-CAF70D4DC9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2534193"/>
            <a:ext cx="512064" cy="512064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372E149E-2601-258E-97F1-439398A68EF5}"/>
              </a:ext>
            </a:extLst>
          </p:cNvPr>
          <p:cNvSpPr/>
          <p:nvPr/>
        </p:nvSpPr>
        <p:spPr>
          <a:xfrm>
            <a:off x="6227064" y="3082833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 Network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BA4E93CA-08DE-708B-BEFB-E2B5B6B4023F}"/>
              </a:ext>
            </a:extLst>
          </p:cNvPr>
          <p:cNvSpPr/>
          <p:nvPr/>
        </p:nvSpPr>
        <p:spPr>
          <a:xfrm>
            <a:off x="7854696" y="3014253"/>
            <a:ext cx="265176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8EE2825E-6949-845B-FFA6-F291452ED046}"/>
              </a:ext>
            </a:extLst>
          </p:cNvPr>
          <p:cNvSpPr/>
          <p:nvPr/>
        </p:nvSpPr>
        <p:spPr>
          <a:xfrm>
            <a:off x="8102727" y="2383317"/>
            <a:ext cx="1627632" cy="1325880"/>
          </a:xfrm>
          <a:prstGeom prst="roundRect">
            <a:avLst>
              <a:gd name="adj" fmla="val 689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6" descr="/home/claude/project/icons/trending.png">
            <a:extLst>
              <a:ext uri="{FF2B5EF4-FFF2-40B4-BE49-F238E27FC236}">
                <a16:creationId xmlns:a16="http://schemas.microsoft.com/office/drawing/2014/main" id="{1B5503AB-3084-7AA8-3316-B4AA8D4F64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2534193"/>
            <a:ext cx="512064" cy="512064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F3536E72-EAA3-6414-E2A2-964845557F6C}"/>
              </a:ext>
            </a:extLst>
          </p:cNvPr>
          <p:cNvSpPr/>
          <p:nvPr/>
        </p:nvSpPr>
        <p:spPr>
          <a:xfrm>
            <a:off x="8119872" y="3082833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89143D9A-76F3-C241-17E4-DF2FD97A05A7}"/>
              </a:ext>
            </a:extLst>
          </p:cNvPr>
          <p:cNvSpPr/>
          <p:nvPr/>
        </p:nvSpPr>
        <p:spPr>
          <a:xfrm>
            <a:off x="9747504" y="3014253"/>
            <a:ext cx="265176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C9B46023-50C6-384B-062C-1B6993A42218}"/>
              </a:ext>
            </a:extLst>
          </p:cNvPr>
          <p:cNvSpPr/>
          <p:nvPr/>
        </p:nvSpPr>
        <p:spPr>
          <a:xfrm>
            <a:off x="9995535" y="2383317"/>
            <a:ext cx="1627632" cy="1325880"/>
          </a:xfrm>
          <a:prstGeom prst="roundRect">
            <a:avLst>
              <a:gd name="adj" fmla="val 6897"/>
            </a:avLst>
          </a:prstGeom>
          <a:solidFill>
            <a:srgbClr val="C0503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7" descr="/home/claude/project/icons/alert.png">
            <a:extLst>
              <a:ext uri="{FF2B5EF4-FFF2-40B4-BE49-F238E27FC236}">
                <a16:creationId xmlns:a16="http://schemas.microsoft.com/office/drawing/2014/main" id="{B3C458BB-34B6-4B70-C638-4A65A4C86C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0464" y="2534193"/>
            <a:ext cx="512064" cy="512064"/>
          </a:xfrm>
          <a:prstGeom prst="rect">
            <a:avLst/>
          </a:prstGeom>
        </p:spPr>
      </p:pic>
      <p:sp>
        <p:nvSpPr>
          <p:cNvPr id="28" name="Text 18">
            <a:extLst>
              <a:ext uri="{FF2B5EF4-FFF2-40B4-BE49-F238E27FC236}">
                <a16:creationId xmlns:a16="http://schemas.microsoft.com/office/drawing/2014/main" id="{B714328E-E0BD-C91F-DBF8-43081A85DE17}"/>
              </a:ext>
            </a:extLst>
          </p:cNvPr>
          <p:cNvSpPr/>
          <p:nvPr/>
        </p:nvSpPr>
        <p:spPr>
          <a:xfrm>
            <a:off x="10012680" y="3082833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5567A644-2B4D-C260-39B1-1FB35E69CAD1}"/>
              </a:ext>
            </a:extLst>
          </p:cNvPr>
          <p:cNvSpPr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0F17FFD8-6E56-85D0-EDD8-1A00BD56C9F9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FCFBB18-6F2D-ACB2-78AA-8F1412FA4C85}"/>
              </a:ext>
            </a:extLst>
          </p:cNvPr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3738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 Network Model &amp; Working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Architecture: an input layer, one or more hidden layers, and an output layer of interconnected neurons.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Training: network weights are learned from historical electricity-consumption data through backpropagation.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Prediction: the trained model classifies each new bill / reading as normal or abnormal.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 functions: ReLU in hidden layers, Sigmoid at the output for binary classification.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Optimizer: Adam is used to efficiently minimise the loss during training.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172200" y="123444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7168896" y="1847088"/>
            <a:ext cx="46634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7168896" y="1847088"/>
            <a:ext cx="46634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7168896" y="1847088"/>
            <a:ext cx="46634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168896" y="1847088"/>
            <a:ext cx="46634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7168896" y="1847088"/>
            <a:ext cx="466344" cy="34747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 flipV="1">
            <a:off x="7168896" y="1847088"/>
            <a:ext cx="466344" cy="11582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 flipV="1">
            <a:off x="7168896" y="2715768"/>
            <a:ext cx="466344" cy="2895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168896" y="3005328"/>
            <a:ext cx="466344" cy="5791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68896" y="3005328"/>
            <a:ext cx="466344" cy="144780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168896" y="3005328"/>
            <a:ext cx="466344" cy="23164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 flipV="1">
            <a:off x="7168896" y="1847088"/>
            <a:ext cx="466344" cy="23164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 flipV="1">
            <a:off x="7168896" y="2715768"/>
            <a:ext cx="466344" cy="144780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 flipV="1">
            <a:off x="7168896" y="3584448"/>
            <a:ext cx="466344" cy="5791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168896" y="4163568"/>
            <a:ext cx="466344" cy="2895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7168896" y="4163568"/>
            <a:ext cx="466344" cy="11582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 flipV="1">
            <a:off x="7168896" y="1847088"/>
            <a:ext cx="466344" cy="34747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 flipV="1">
            <a:off x="7168896" y="2715768"/>
            <a:ext cx="46634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 flipV="1">
            <a:off x="7168896" y="3584448"/>
            <a:ext cx="46634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 flipV="1">
            <a:off x="7168896" y="4453128"/>
            <a:ext cx="46634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168896" y="5321808"/>
            <a:ext cx="46634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7946136" y="184708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7946136" y="184708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7946136" y="184708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7946136" y="1847088"/>
            <a:ext cx="124358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7946136" y="1847088"/>
            <a:ext cx="1243584" cy="34747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 flipV="1">
            <a:off x="7946136" y="184708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7946136" y="271576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7946136" y="271576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7946136" y="271576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7946136" y="2715768"/>
            <a:ext cx="124358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 flipV="1">
            <a:off x="7946136" y="184708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 flipV="1">
            <a:off x="7946136" y="271576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7946136" y="358444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7946136" y="358444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7"/>
          <p:cNvSpPr/>
          <p:nvPr/>
        </p:nvSpPr>
        <p:spPr>
          <a:xfrm>
            <a:off x="7946136" y="358444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8"/>
          <p:cNvSpPr/>
          <p:nvPr/>
        </p:nvSpPr>
        <p:spPr>
          <a:xfrm flipV="1">
            <a:off x="7946136" y="1847088"/>
            <a:ext cx="124358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 flipV="1">
            <a:off x="7946136" y="271576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0"/>
          <p:cNvSpPr/>
          <p:nvPr/>
        </p:nvSpPr>
        <p:spPr>
          <a:xfrm flipV="1">
            <a:off x="7946136" y="358444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1"/>
          <p:cNvSpPr/>
          <p:nvPr/>
        </p:nvSpPr>
        <p:spPr>
          <a:xfrm>
            <a:off x="7946136" y="445312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7946136" y="445312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/>
          <p:cNvSpPr/>
          <p:nvPr/>
        </p:nvSpPr>
        <p:spPr>
          <a:xfrm flipV="1">
            <a:off x="7946136" y="1847088"/>
            <a:ext cx="1243584" cy="34747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 flipV="1">
            <a:off x="7946136" y="2715768"/>
            <a:ext cx="124358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 flipV="1">
            <a:off x="7946136" y="358444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6"/>
          <p:cNvSpPr/>
          <p:nvPr/>
        </p:nvSpPr>
        <p:spPr>
          <a:xfrm flipV="1">
            <a:off x="7946136" y="445312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7946136" y="532180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8"/>
          <p:cNvSpPr/>
          <p:nvPr/>
        </p:nvSpPr>
        <p:spPr>
          <a:xfrm>
            <a:off x="9500616" y="184708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9500616" y="1847088"/>
            <a:ext cx="1243584" cy="34747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 flipV="1">
            <a:off x="9500616" y="184708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9500616" y="2715768"/>
            <a:ext cx="124358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2"/>
          <p:cNvSpPr/>
          <p:nvPr/>
        </p:nvSpPr>
        <p:spPr>
          <a:xfrm flipV="1">
            <a:off x="9500616" y="184708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9500616" y="3584448"/>
            <a:ext cx="1243584" cy="173736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4"/>
          <p:cNvSpPr/>
          <p:nvPr/>
        </p:nvSpPr>
        <p:spPr>
          <a:xfrm flipV="1">
            <a:off x="9500616" y="1847088"/>
            <a:ext cx="1243584" cy="260604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5"/>
          <p:cNvSpPr/>
          <p:nvPr/>
        </p:nvSpPr>
        <p:spPr>
          <a:xfrm>
            <a:off x="9500616" y="4453128"/>
            <a:ext cx="1243584" cy="86868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 flipV="1">
            <a:off x="9500616" y="1847088"/>
            <a:ext cx="1243584" cy="347472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7"/>
          <p:cNvSpPr/>
          <p:nvPr/>
        </p:nvSpPr>
        <p:spPr>
          <a:xfrm>
            <a:off x="9500616" y="5321808"/>
            <a:ext cx="1243584" cy="0"/>
          </a:xfrm>
          <a:prstGeom prst="line">
            <a:avLst/>
          </a:prstGeom>
          <a:noFill/>
          <a:ln w="9525">
            <a:solidFill>
              <a:srgbClr val="B7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6858000" y="1691640"/>
            <a:ext cx="310896" cy="31089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59"/>
          <p:cNvSpPr/>
          <p:nvPr/>
        </p:nvSpPr>
        <p:spPr>
          <a:xfrm>
            <a:off x="6858000" y="2849880"/>
            <a:ext cx="310896" cy="31089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0"/>
          <p:cNvSpPr/>
          <p:nvPr/>
        </p:nvSpPr>
        <p:spPr>
          <a:xfrm>
            <a:off x="6858000" y="4008120"/>
            <a:ext cx="310896" cy="31089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1"/>
          <p:cNvSpPr/>
          <p:nvPr/>
        </p:nvSpPr>
        <p:spPr>
          <a:xfrm>
            <a:off x="6858000" y="5166360"/>
            <a:ext cx="310896" cy="31089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6446520" y="548640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</a:t>
            </a:r>
            <a:endParaRPr lang="en-US" sz="1050" dirty="0"/>
          </a:p>
        </p:txBody>
      </p:sp>
      <p:sp>
        <p:nvSpPr>
          <p:cNvPr id="67" name="Shape 63"/>
          <p:cNvSpPr/>
          <p:nvPr/>
        </p:nvSpPr>
        <p:spPr>
          <a:xfrm>
            <a:off x="7635240" y="1691640"/>
            <a:ext cx="310896" cy="31089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7635240" y="2560320"/>
            <a:ext cx="310896" cy="31089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7635240" y="3429000"/>
            <a:ext cx="310896" cy="31089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6"/>
          <p:cNvSpPr/>
          <p:nvPr/>
        </p:nvSpPr>
        <p:spPr>
          <a:xfrm>
            <a:off x="7635240" y="4297680"/>
            <a:ext cx="310896" cy="31089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7635240" y="5166360"/>
            <a:ext cx="310896" cy="31089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7223760" y="548640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</a:t>
            </a:r>
            <a:endParaRPr lang="en-US" sz="1050" dirty="0"/>
          </a:p>
        </p:txBody>
      </p:sp>
      <p:sp>
        <p:nvSpPr>
          <p:cNvPr id="73" name="Shape 69"/>
          <p:cNvSpPr/>
          <p:nvPr/>
        </p:nvSpPr>
        <p:spPr>
          <a:xfrm>
            <a:off x="9189720" y="1691640"/>
            <a:ext cx="310896" cy="310896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0"/>
          <p:cNvSpPr/>
          <p:nvPr/>
        </p:nvSpPr>
        <p:spPr>
          <a:xfrm>
            <a:off x="9189720" y="2560320"/>
            <a:ext cx="310896" cy="310896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9189720" y="3429000"/>
            <a:ext cx="310896" cy="310896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2"/>
          <p:cNvSpPr/>
          <p:nvPr/>
        </p:nvSpPr>
        <p:spPr>
          <a:xfrm>
            <a:off x="9189720" y="4297680"/>
            <a:ext cx="310896" cy="310896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9189720" y="5166360"/>
            <a:ext cx="310896" cy="310896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8778240" y="548640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</a:t>
            </a:r>
            <a:endParaRPr lang="en-US" sz="1050" dirty="0"/>
          </a:p>
        </p:txBody>
      </p:sp>
      <p:sp>
        <p:nvSpPr>
          <p:cNvPr id="79" name="Shape 75"/>
          <p:cNvSpPr/>
          <p:nvPr/>
        </p:nvSpPr>
        <p:spPr>
          <a:xfrm>
            <a:off x="10744200" y="1691640"/>
            <a:ext cx="310896" cy="310896"/>
          </a:xfrm>
          <a:prstGeom prst="ellipse">
            <a:avLst/>
          </a:prstGeom>
          <a:solidFill>
            <a:srgbClr val="C0503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6"/>
          <p:cNvSpPr/>
          <p:nvPr/>
        </p:nvSpPr>
        <p:spPr>
          <a:xfrm>
            <a:off x="10744200" y="5166360"/>
            <a:ext cx="310896" cy="310896"/>
          </a:xfrm>
          <a:prstGeom prst="ellipse">
            <a:avLst/>
          </a:prstGeom>
          <a:solidFill>
            <a:srgbClr val="C0503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7"/>
          <p:cNvSpPr/>
          <p:nvPr/>
        </p:nvSpPr>
        <p:spPr>
          <a:xfrm>
            <a:off x="10332720" y="548640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</a:t>
            </a:r>
            <a:endParaRPr lang="en-US" sz="1050" dirty="0"/>
          </a:p>
        </p:txBody>
      </p:sp>
      <p:sp>
        <p:nvSpPr>
          <p:cNvPr id="82" name="Text 78"/>
          <p:cNvSpPr/>
          <p:nvPr/>
        </p:nvSpPr>
        <p:spPr>
          <a:xfrm>
            <a:off x="617220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Figure: Fully-connected neural network architecture</a:t>
            </a:r>
            <a:endParaRPr lang="en-US" sz="1000" dirty="0"/>
          </a:p>
        </p:txBody>
      </p:sp>
      <p:sp>
        <p:nvSpPr>
          <p:cNvPr id="83" name="Text 7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Applications, Advantages &amp; Expected Results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48640" y="12344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2034540" y="1508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2" descr="/home/claude/project/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8159" y="1662379"/>
            <a:ext cx="332842" cy="3328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2286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822960" y="286207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3" descr="/home/claude/project/icons/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907792"/>
            <a:ext cx="164592" cy="164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27797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Homes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822960" y="363931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/home/claude/project/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85032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55701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Grids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822960" y="441655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5" descr="/home/claude/project/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462272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43342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Electricity Boards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822960" y="519379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6" descr="/home/claude/project/icons/set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39512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188720" y="51114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Management Systems</a:t>
            </a:r>
            <a:endParaRPr lang="en-US" sz="1250" dirty="0"/>
          </a:p>
        </p:txBody>
      </p:sp>
      <p:sp>
        <p:nvSpPr>
          <p:cNvPr id="21" name="Shape 12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3"/>
          <p:cNvSpPr/>
          <p:nvPr/>
        </p:nvSpPr>
        <p:spPr>
          <a:xfrm>
            <a:off x="5875020" y="1508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7" descr="/home/claude/project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8639" y="1662379"/>
            <a:ext cx="332842" cy="3328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389120" y="2286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4663440" y="28620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8" descr="/home/claude/project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2907792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029200" y="27797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prediction accuracy</a:t>
            </a:r>
            <a:endParaRPr lang="en-US" sz="1250" dirty="0"/>
          </a:p>
        </p:txBody>
      </p:sp>
      <p:sp>
        <p:nvSpPr>
          <p:cNvPr id="28" name="Shape 17"/>
          <p:cNvSpPr/>
          <p:nvPr/>
        </p:nvSpPr>
        <p:spPr>
          <a:xfrm>
            <a:off x="4663440" y="363931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9" descr="/home/claude/project/icons/c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3685032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029200" y="355701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anomaly detection</a:t>
            </a:r>
            <a:endParaRPr lang="en-US" sz="1250" dirty="0"/>
          </a:p>
        </p:txBody>
      </p:sp>
      <p:sp>
        <p:nvSpPr>
          <p:cNvPr id="31" name="Shape 19"/>
          <p:cNvSpPr/>
          <p:nvPr/>
        </p:nvSpPr>
        <p:spPr>
          <a:xfrm>
            <a:off x="4663440" y="44165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10" descr="/home/claude/project/icons/activit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4462272"/>
            <a:ext cx="164592" cy="16459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029200" y="43342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time and cost</a:t>
            </a:r>
            <a:endParaRPr lang="en-US" sz="1250" dirty="0"/>
          </a:p>
        </p:txBody>
      </p:sp>
      <p:sp>
        <p:nvSpPr>
          <p:cNvPr id="34" name="Shape 21"/>
          <p:cNvSpPr/>
          <p:nvPr/>
        </p:nvSpPr>
        <p:spPr>
          <a:xfrm>
            <a:off x="4663440" y="519379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11" descr="/home/claude/project/icons/barch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5239512"/>
            <a:ext cx="164592" cy="16459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029200" y="51114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Improves billing reliability</a:t>
            </a:r>
            <a:endParaRPr lang="en-US" sz="1250" dirty="0"/>
          </a:p>
        </p:txBody>
      </p:sp>
      <p:sp>
        <p:nvSpPr>
          <p:cNvPr id="37" name="Shape 23"/>
          <p:cNvSpPr/>
          <p:nvPr/>
        </p:nvSpPr>
        <p:spPr>
          <a:xfrm>
            <a:off x="8229600" y="12344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24"/>
          <p:cNvSpPr/>
          <p:nvPr/>
        </p:nvSpPr>
        <p:spPr>
          <a:xfrm>
            <a:off x="9715500" y="1508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12" descr="/home/claude/project/icons/trend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9119" y="1662379"/>
            <a:ext cx="332842" cy="33284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8229600" y="2286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</a:t>
            </a:r>
            <a:endParaRPr lang="en-US" sz="1600" dirty="0"/>
          </a:p>
        </p:txBody>
      </p:sp>
      <p:sp>
        <p:nvSpPr>
          <p:cNvPr id="41" name="Shape 26"/>
          <p:cNvSpPr/>
          <p:nvPr/>
        </p:nvSpPr>
        <p:spPr>
          <a:xfrm>
            <a:off x="8503920" y="2862072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13" descr="/home/claude/project/icons/aler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9640" y="2907792"/>
            <a:ext cx="164592" cy="16459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8869680" y="27797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detection of abnormal bills</a:t>
            </a:r>
            <a:endParaRPr lang="en-US" sz="1250" dirty="0"/>
          </a:p>
        </p:txBody>
      </p:sp>
      <p:sp>
        <p:nvSpPr>
          <p:cNvPr id="44" name="Shape 28"/>
          <p:cNvSpPr/>
          <p:nvPr/>
        </p:nvSpPr>
        <p:spPr>
          <a:xfrm>
            <a:off x="8503920" y="3639312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14" descr="/home/claude/project/icons/trend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9640" y="3685032"/>
            <a:ext cx="164592" cy="164592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8869680" y="355701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financial losses</a:t>
            </a:r>
            <a:endParaRPr lang="en-US" sz="1250" dirty="0"/>
          </a:p>
        </p:txBody>
      </p:sp>
      <p:sp>
        <p:nvSpPr>
          <p:cNvPr id="47" name="Shape 30"/>
          <p:cNvSpPr/>
          <p:nvPr/>
        </p:nvSpPr>
        <p:spPr>
          <a:xfrm>
            <a:off x="8503920" y="4416552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15" descr="/home/claude/project/icons/databas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9640" y="4462272"/>
            <a:ext cx="164592" cy="164592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8869680" y="43342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energy monitoring</a:t>
            </a:r>
            <a:endParaRPr lang="en-US" sz="1250" dirty="0"/>
          </a:p>
        </p:txBody>
      </p:sp>
      <p:sp>
        <p:nvSpPr>
          <p:cNvPr id="50" name="Shape 32"/>
          <p:cNvSpPr/>
          <p:nvPr/>
        </p:nvSpPr>
        <p:spPr>
          <a:xfrm>
            <a:off x="8503920" y="5193792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mage 16" descr="/home/claude/project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5239512"/>
            <a:ext cx="164592" cy="164592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8869680" y="51114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Increased customer satisfaction</a:t>
            </a:r>
            <a:endParaRPr lang="en-US" sz="1250" dirty="0"/>
          </a:p>
        </p:txBody>
      </p:sp>
      <p:sp>
        <p:nvSpPr>
          <p:cNvPr id="53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54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48640" y="1234440"/>
            <a:ext cx="11091672" cy="3913632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/>
          <p:nvPr/>
        </p:nvSpPr>
        <p:spPr>
          <a:xfrm>
            <a:off x="1508760" y="1527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960120" y="2487168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 networks provide an accurate, scalable way to predict electricity bill anomalies by learning complex, non-linear consumption patterns that traditional methods miss.</a:t>
            </a:r>
            <a:endParaRPr lang="en-US" sz="2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improves billing accuracy, enables early fraud/error detection, and supports smarter, more efficient energy management for small homes.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68680" y="4206240"/>
            <a:ext cx="104515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  <a:spcAft>
                <a:spcPts val="900"/>
              </a:spcAft>
              <a:buSzPct val="100000"/>
            </a:pPr>
            <a:r>
              <a:rPr lang="en-US" sz="1200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10302-70D1-7CFB-7E75-82939526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/icons/logo_left.png">
            <a:extLst>
              <a:ext uri="{FF2B5EF4-FFF2-40B4-BE49-F238E27FC236}">
                <a16:creationId xmlns:a16="http://schemas.microsoft.com/office/drawing/2014/main" id="{BFF1F933-4818-7516-53E0-7FE6884A8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"/>
            <a:ext cx="402336" cy="475488"/>
          </a:xfrm>
          <a:prstGeom prst="rect">
            <a:avLst/>
          </a:prstGeom>
        </p:spPr>
      </p:pic>
      <p:pic>
        <p:nvPicPr>
          <p:cNvPr id="3" name="Image 1" descr="/home/claude/project/icons/logo_right.png">
            <a:extLst>
              <a:ext uri="{FF2B5EF4-FFF2-40B4-BE49-F238E27FC236}">
                <a16:creationId xmlns:a16="http://schemas.microsoft.com/office/drawing/2014/main" id="{BA29E686-A739-56B1-08B8-7AC10F9FC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308" y="256032"/>
            <a:ext cx="491884" cy="47548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D89D666-8C76-FDF1-A828-98249AF2DEF8}"/>
              </a:ext>
            </a:extLst>
          </p:cNvPr>
          <p:cNvSpPr/>
          <p:nvPr/>
        </p:nvSpPr>
        <p:spPr>
          <a:xfrm>
            <a:off x="1051560" y="292608"/>
            <a:ext cx="9811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7" name="Image 2" descr="/home/claude/project/icons/check.png">
            <a:extLst>
              <a:ext uri="{FF2B5EF4-FFF2-40B4-BE49-F238E27FC236}">
                <a16:creationId xmlns:a16="http://schemas.microsoft.com/office/drawing/2014/main" id="{FAF97E5D-7BDF-3AA8-478C-9494AA1B1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1675181"/>
            <a:ext cx="261518" cy="26151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3E78A02D-A278-70EF-2A49-FFFA095136EE}"/>
              </a:ext>
            </a:extLst>
          </p:cNvPr>
          <p:cNvSpPr/>
          <p:nvPr/>
        </p:nvSpPr>
        <p:spPr>
          <a:xfrm>
            <a:off x="1508760" y="1527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C0EFB52-8746-A9E1-2AF8-15A25F924BF0}"/>
              </a:ext>
            </a:extLst>
          </p:cNvPr>
          <p:cNvSpPr/>
          <p:nvPr/>
        </p:nvSpPr>
        <p:spPr>
          <a:xfrm>
            <a:off x="868680" y="210312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endParaRPr lang="en-US" sz="13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CEE4EE2-9502-9F4C-D82A-27ED23641A07}"/>
              </a:ext>
            </a:extLst>
          </p:cNvPr>
          <p:cNvSpPr/>
          <p:nvPr/>
        </p:nvSpPr>
        <p:spPr>
          <a:xfrm>
            <a:off x="485578" y="1165860"/>
            <a:ext cx="11091672" cy="5113642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8B0F1D9-756D-203C-23E6-0E077B81E940}"/>
              </a:ext>
            </a:extLst>
          </p:cNvPr>
          <p:cNvSpPr/>
          <p:nvPr/>
        </p:nvSpPr>
        <p:spPr>
          <a:xfrm>
            <a:off x="1372067" y="117285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FB17ED7-89F4-5981-A3BE-B4CADCB30247}"/>
              </a:ext>
            </a:extLst>
          </p:cNvPr>
          <p:cNvSpPr/>
          <p:nvPr/>
        </p:nvSpPr>
        <p:spPr>
          <a:xfrm>
            <a:off x="1051560" y="2488378"/>
            <a:ext cx="104515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Xplore — Papers on neural-network-based anomaly detection in power systems.</a:t>
            </a:r>
            <a:endParaRPr lang="en-US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Kaggle — Household Electric Power Consumption Dataset.</a:t>
            </a:r>
            <a:endParaRPr lang="en-US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TensorFlow Documentation — Official guide for building and training neural networks.</a:t>
            </a:r>
            <a:endParaRPr lang="en-US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Documentation — Preprocessing, normalisation, and evaluation utilities.</a:t>
            </a:r>
            <a:endParaRPr lang="en-US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ScienceDirect — Research articles on smart-grid energy theft and anomaly detection.</a:t>
            </a:r>
            <a:endParaRPr lang="en-US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1B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Xplore — Machine-learning approaches for smart-meter data analytics.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111DB9F-CF3E-5422-4C6C-C75F01934D8A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ITA0611 · Machine Learning</a:t>
            </a:r>
            <a:endParaRPr lang="en-US" sz="1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7693C7F-9648-4DA2-7869-8606B46026AD}"/>
              </a:ext>
            </a:extLst>
          </p:cNvPr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666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634</Words>
  <Application>Microsoft Office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Hemanth kumar</cp:lastModifiedBy>
  <cp:revision>2</cp:revision>
  <dcterms:created xsi:type="dcterms:W3CDTF">2026-07-29T03:17:24Z</dcterms:created>
  <dcterms:modified xsi:type="dcterms:W3CDTF">2026-08-10T07:41:24Z</dcterms:modified>
</cp:coreProperties>
</file>